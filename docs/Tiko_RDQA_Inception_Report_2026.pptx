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14400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 REPORT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Routine Data Quality Audits (RDQAs)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 Africa – Uganda Programme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Kampala &amp; Wakiso Districts  |  March – December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9728" y="4206240"/>
            <a:ext cx="9034272" cy="93726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4297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  •  Lead Consultant / Team Leader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572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Raymond R. Wayesu  •  Data Analyst / Biostatistician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4389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February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752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2286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383280" y="50292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5029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Overview &amp; Understanding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92354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9235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Structure &amp; Roles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34416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3441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Methodology &amp; Frameworks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76479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17647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Dual-System Verification Approach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21854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0" y="218541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RDQA Process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3383280" y="26060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060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&amp; Timeline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302666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3026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Tools &amp; Instruments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3447288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931920" y="34472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 &amp; Mitigation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386791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8679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KCCA &amp; Wakiso Engagement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3383280" y="428853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931920" y="42885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ASSIGNMENT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192024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54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14600" y="1051560"/>
            <a:ext cx="192024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51460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051560"/>
            <a:ext cx="19202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Sessions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12280" y="1051560"/>
            <a:ext cx="1920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12280" y="105156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812280" y="118872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812280" y="17830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(Kampala &amp; Wakiso)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Challenge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Tiko’s digital data pipeline and Uganda’s paper-based HMIS reporting system operate in parallel. Discrepancies between these systems must be identified, root-caused, and resolved through collaborative corrective action. This RDQA will bridge Tiko’s innovative digital ecosystem with national reporting standards across Kampala and Wakiso Districts.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Areas: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SRH / Family Planning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4884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214884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Testing &amp; ART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84048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SGBV Response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53212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53212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Health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223760" y="4251960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0" y="42519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Generation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STRUCTURE &amp; ROLES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4023360" cy="54864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CONSULTANT / TEAM LEADER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Paul Mubiri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Biostatistics (Makerere)  •  13+ years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RDQA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PTBi, MGIC,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DHIS2, KoboToolbox, STATA, R, REDCap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peer-reviewed papers (Lancet, BMC, PLOS)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assessment, protocol development, M&amp;E capacity building, PEPFAR/USAID systems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097280"/>
            <a:ext cx="40233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97280"/>
            <a:ext cx="4023360" cy="54864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 / BIOSTATISTICIAN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1828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Raymond R. Wayesu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5029200" y="2194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Statistics (Linköping)  •  10+ years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029200" y="2606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experience: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UVRI, Sanyu Africa, NSSF, iTECH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Python, SQL, Linux, GCP certified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Specialisms: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Biostatistics, clinical trials, machine learning, data quality control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skills: 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modelling, digital instrument development, dashboards, verification factor computation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+ 2–4 Field Data Quality Auditors (to be recruited during inception; bachelor’s degree, 3+ years HMIS experience, Kampala/Wakiso-based)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METHODOLOGY &amp; FRAMEWORKS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1325880" y="12801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13898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 Evaluation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Tool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1: Data Verification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Recount from source documents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Verification Factor (VF) computation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±10% tolerance band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2: Systems Assessment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 functional areas scored 1–3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Spider chart visualisation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Shape 9"/>
          <p:cNvSpPr/>
          <p:nvPr/>
        </p:nvSpPr>
        <p:spPr>
          <a:xfrm>
            <a:off x="4206240" y="12801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38988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756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Data 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Toolkit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8328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quality dimensions: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External consistency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Population data comparison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review + field verification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80760" y="1051560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Shape 14"/>
          <p:cNvSpPr/>
          <p:nvPr/>
        </p:nvSpPr>
        <p:spPr>
          <a:xfrm>
            <a:off x="7086600" y="12801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38988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196596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Uganda MoH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HMIS Guidelines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263640" y="2514600"/>
            <a:ext cx="233172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DQ attributes: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Accuracy &amp; validity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Completeness &amp; uniqueness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Consistency &amp; timeliness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with HMIS registers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(031, 055B, 071, 074, 080/081)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DUAL-SYSTEM VERIFICATION APPROACH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data triangulation across Tiko Platform, facility source documents, and national DHIS2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Tiko Platform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digital records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WhatsApp / 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fraud detection &amp; GPS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Facility HMIS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031, 055B, 071, 074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080/081, tally sheets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HMIS 105 monthly summary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26060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6304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DHIS2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aggregates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Biostatistician entry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DQ App desk review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2103120"/>
            <a:ext cx="274320" cy="274320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03120"/>
            <a:ext cx="274320" cy="27432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371600" y="3657600"/>
            <a:ext cx="6400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1371600" y="3657600"/>
            <a:ext cx="73152" cy="1188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7"/>
          <p:cNvSpPr/>
          <p:nvPr/>
        </p:nvSpPr>
        <p:spPr>
          <a:xfrm>
            <a:off x="1645920" y="3703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Verification Factor (VF)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164592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 = Recounted Value ÷ Reported Value × 100%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64592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range: 90% – 110% (±10% tolerance band)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669280" y="3794760"/>
            <a:ext cx="914400" cy="8686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1"/>
          <p:cNvSpPr/>
          <p:nvPr/>
        </p:nvSpPr>
        <p:spPr>
          <a:xfrm>
            <a:off x="566928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90%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66928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Over-reporting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720840" y="3794760"/>
            <a:ext cx="914400" cy="8686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4"/>
          <p:cNvSpPr/>
          <p:nvPr/>
        </p:nvSpPr>
        <p:spPr>
          <a:xfrm>
            <a:off x="672084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90–110%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672084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7772400" y="3794760"/>
            <a:ext cx="914400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7"/>
          <p:cNvSpPr/>
          <p:nvPr/>
        </p:nvSpPr>
        <p:spPr>
          <a:xfrm>
            <a:off x="7772400" y="379476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110%</a:t>
            </a:r>
            <a:endParaRPr lang="en-US" sz="1400" dirty="0"/>
          </a:p>
        </p:txBody>
      </p:sp>
      <p:sp>
        <p:nvSpPr>
          <p:cNvPr id="32" name="Text 28"/>
          <p:cNvSpPr/>
          <p:nvPr/>
        </p:nvSpPr>
        <p:spPr>
          <a:xfrm>
            <a:off x="7772400" y="42062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Under-reporting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RDQA PROCESS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88920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Pre-Visit Preparation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facility list &amp; indicator priorities from Tiko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DHIS2 desk review using WHO DQ App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KCCA &amp; Wakiso DHTs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Pre-load KoboToolbox instruments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previous month’s action points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788920" cy="7772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On-Site RDQA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4–18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2–3 person sub-teams per facility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Recount from primary HMIS registers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against Tiko Platform &amp; HMIS 105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VFs; photograph register pages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interviews with facility staff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closure of previous action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7889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05840"/>
            <a:ext cx="2788920" cy="7772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00584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13258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&amp; Reporting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1600200"/>
            <a:ext cx="27889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19–25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1920240"/>
            <a:ext cx="2514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validate KoboToolbox data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final VFs &amp; spider charts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individual facility reports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 point tracker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datasets &amp; reports to Tiko by 25th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PLAN &amp; TIMELINE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Jul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Aug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Sep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Oct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Nov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Dec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Inception &amp; Tool Dev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Monthly RDQA Cycles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Post-RDQA Follow-ups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Q1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Q2 Data Review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Q3 Data Review + Final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</a:rPr>
                        <a:t>Strategic Analysis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4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Monthly Deliverables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cleaned dataset (Excel/CSV)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facility reports with VF tables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point tracker (Closed / Pending / Overdue)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754880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Quarterly Deliverables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0" y="40690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Data Review Report (attendees, trends, commitments)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Insights Report (cross-division patterns, systemic gaps)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TOOLS &amp; INSTRUMENTS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5303520" cy="54864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280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KoboToolbox  —  Primary RDQA Platform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capability: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KoboCollect Android app works without internet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012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logic &amp; validation: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rules prevent entry errors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88920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960120" y="2743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Auto-calculated VFs: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Verification Factor computation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4612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2004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auto-capture: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facility geolocation logging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703320"/>
            <a:ext cx="201168" cy="20116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960120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documentation: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Forced-capture of register pages (no gallery)</a:t>
            </a:r>
            <a:endParaRPr lang="en-US" sz="10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160520"/>
            <a:ext cx="201168" cy="201168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6012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metadata: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start/end times, enumerator tracking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5943600" y="1051560"/>
            <a:ext cx="29260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2"/>
          <p:cNvSpPr/>
          <p:nvPr/>
        </p:nvSpPr>
        <p:spPr>
          <a:xfrm>
            <a:off x="5943600" y="1051560"/>
            <a:ext cx="292608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13"/>
          <p:cNvSpPr/>
          <p:nvPr/>
        </p:nvSpPr>
        <p:spPr>
          <a:xfrm>
            <a:off x="6035040" y="12344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RDQA Instrument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15"/>
          <p:cNvSpPr/>
          <p:nvPr/>
        </p:nvSpPr>
        <p:spPr>
          <a:xfrm>
            <a:off x="6126480" y="18745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6583680" y="1874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ID</a:t>
            </a:r>
            <a:endParaRPr lang="en-US" sz="1100" dirty="0"/>
          </a:p>
        </p:txBody>
      </p:sp>
      <p:sp>
        <p:nvSpPr>
          <p:cNvPr id="26" name="Text 17"/>
          <p:cNvSpPr/>
          <p:nvPr/>
        </p:nvSpPr>
        <p:spPr>
          <a:xfrm>
            <a:off x="6583680" y="21031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cascading selects, assessor info</a:t>
            </a:r>
            <a:endParaRPr lang="en-US" sz="900" dirty="0"/>
          </a:p>
        </p:txBody>
      </p:sp>
      <p:sp>
        <p:nvSpPr>
          <p:cNvPr id="27" name="Shape 18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19"/>
          <p:cNvSpPr/>
          <p:nvPr/>
        </p:nvSpPr>
        <p:spPr>
          <a:xfrm>
            <a:off x="6126480" y="253288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0"/>
          <p:cNvSpPr/>
          <p:nvPr/>
        </p:nvSpPr>
        <p:spPr>
          <a:xfrm>
            <a:off x="6583680" y="25328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Verification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6583680" y="276148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group per indicator, auto VF calc</a:t>
            </a:r>
            <a:endParaRPr lang="en-US" sz="900" dirty="0"/>
          </a:p>
        </p:txBody>
      </p:sp>
      <p:sp>
        <p:nvSpPr>
          <p:cNvPr id="31" name="Shape 22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2" name="Text 23"/>
          <p:cNvSpPr/>
          <p:nvPr/>
        </p:nvSpPr>
        <p:spPr>
          <a:xfrm>
            <a:off x="6126480" y="319125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24"/>
          <p:cNvSpPr/>
          <p:nvPr/>
        </p:nvSpPr>
        <p:spPr>
          <a:xfrm>
            <a:off x="6583680" y="31912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Assessment</a:t>
            </a:r>
            <a:endParaRPr lang="en-US" sz="1100" dirty="0"/>
          </a:p>
        </p:txBody>
      </p:sp>
      <p:sp>
        <p:nvSpPr>
          <p:cNvPr id="34" name="Text 25"/>
          <p:cNvSpPr/>
          <p:nvPr/>
        </p:nvSpPr>
        <p:spPr>
          <a:xfrm>
            <a:off x="6583680" y="34198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Likert scales, 5 functional areas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6" name="Text 27"/>
          <p:cNvSpPr/>
          <p:nvPr/>
        </p:nvSpPr>
        <p:spPr>
          <a:xfrm>
            <a:off x="6126480" y="384962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583680" y="38496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6583680" y="407822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Issues, priority, responsible, timeline</a:t>
            </a:r>
            <a:endParaRPr lang="en-US" sz="900" dirty="0"/>
          </a:p>
        </p:txBody>
      </p:sp>
      <p:sp>
        <p:nvSpPr>
          <p:cNvPr id="39" name="Text 30"/>
          <p:cNvSpPr/>
          <p:nvPr/>
        </p:nvSpPr>
        <p:spPr>
          <a:xfrm>
            <a:off x="6035040" y="45262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Free humanitarian tier (5,000 submissions/month, 1 GB storage)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MATRIX &amp; MITIGATION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82296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Likelihood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Impact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Mitigation 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Facility staff reluctant to participate in RDQA process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Pre-visit coordination with facility in-charges via Tiko; frame RDQA as supportive (not punitive); provide verbal feedback on-site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Stock-out of HMIS registers at facilities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Use any available primary source documents; document gaps; triangulate with Tiko Platform and DHIS2 data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Poor internet connectivity during field visits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KoboCollect offline mode; all forms pre-loaded before deployment; sync upon return to coverage area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Delays in Tiko providing facility lists or data exports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Agree data-sharing SLA during inception; build 3-day buffer into monthly timeline; maintain rolling facility schedule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High field auditor turnover during 10-month engagement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Competitive daily rates; clear onboarding protocol; cross-train all auditors on all modules; maintain backup auditor pool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Discrepancies caused by genuine indicator definition misunderstandings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Include indicator definition reference sheets in RDQA instruments; harmonise definitions with Tiko during inception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KCCA &amp; WAKISO ENGAGEMENT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51560"/>
            <a:ext cx="411480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KAMPALA (KCCA)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KCCA-managed + private sector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KCCA Health Department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meeting with KCCA Health Director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KCCA Health Information Officers to joint facility visits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summary findings (with Tiko consent)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RDQA schedule with KCCA supervision calendar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41148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051560"/>
            <a:ext cx="4114800" cy="502920"/>
          </a:xfrm>
          <a:prstGeom prst="rect">
            <a:avLst/>
          </a:prstGeom>
          <a:solidFill>
            <a:srgbClr val="00A89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10515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WAKISO DISTRICT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89204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government + 477 private facilities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92040" y="19202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contact: District Health Officer &amp; Biostatistician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9204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call to Wakiso DHO at district headquarters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District Biostatistician to co-verify DHIS2 entries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sub-county health teams for facility access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findings into District Health Management Team reviews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20040" y="4526280"/>
            <a:ext cx="8503920" cy="457200"/>
          </a:xfrm>
          <a:prstGeom prst="rect">
            <a:avLst/>
          </a:prstGeom>
          <a:solidFill>
            <a:srgbClr val="D0F0E8"/>
          </a:solidFill>
          <a:ln/>
        </p:spPr>
      </p:sp>
      <p:sp>
        <p:nvSpPr>
          <p:cNvPr id="19" name="Text 15"/>
          <p:cNvSpPr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coordination calls with Tiko programme team to align facility schedules, share preliminary findings, and adjust audit plans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051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12801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Finalise inception details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1527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contract; confirm facility list with Tiko; finalise indicator selection; recruit field auditors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17320" y="2103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development &amp; training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23500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test custom KoboToolbox RDQA instrument; 2-day field auditor training; pilot at 2–3 facilities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743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2697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17320" y="29260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Stakeholder introductions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17320" y="3172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Courtesy meetings with KCCA Health Department and Wakiso District Health Officer; present RDQA scope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3520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1732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RDQA cycle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17320" y="39959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field teams for March RDQA; begin on-site data verification across priority facilities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9728" y="4434840"/>
            <a:ext cx="9034272" cy="70866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526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Mubiri: mubirip@gmail.com  |  +256 754 544 660     •     Raymond Wayesu: raymondrwayesu@gmail.com  |  +256 784 902 753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Tiko RDQA Inception Report 2026</dc:title>
  <dc:subject>PptxGenJS Presentation</dc:subject>
  <dc:creator>Paul Mubiri &amp; Raymond R. Wayesu</dc:creator>
  <cp:lastModifiedBy>Paul Mubiri &amp; Raymond R. Wayesu</cp:lastModifiedBy>
  <cp:revision>1</cp:revision>
  <dcterms:created xsi:type="dcterms:W3CDTF">2026-02-11T06:20:27Z</dcterms:created>
  <dcterms:modified xsi:type="dcterms:W3CDTF">2026-02-11T06:20:27Z</dcterms:modified>
</cp:coreProperties>
</file>