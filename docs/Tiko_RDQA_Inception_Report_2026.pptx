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9728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914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 REPORT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Routine Data Quality Audits (RDQAs)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Tiko Africa – Uganda Programme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Kampala &amp; Wakiso Districts  |  March – December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" y="4206240"/>
            <a:ext cx="9034272" cy="937260"/>
          </a:xfrm>
          <a:prstGeom prst="rect">
            <a:avLst/>
          </a:prstGeom>
          <a:solidFill>
            <a:srgbClr val="1B3A4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Mubiri  •  Lead Consultant / Team Leader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572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Raymond R. Wayesu  •  Data Analyst / Biostatistician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4389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February 2026</a:t>
            </a:r>
            <a:endParaRPr lang="en-US" sz="1200" dirty="0"/>
          </a:p>
          <a:p>
            <a:pPr algn="ctr"/>
            <a:r>
              <a:rPr sz="1000" i="1">
                <a:solidFill>
                  <a:srgbClr val="66C2A5"/>
                </a:solidFill>
              </a:rPr>
              <a:t>Interactive Demo: rdqa-demo.vercel.app</a:t>
            </a:r>
          </a:p>
          <a:p>
            <a:r>
              <a:rPr lang="en-US" dirty="0" sz="127000">
                <a:solidFill>
                  <a:srgbClr val="66C2A5"/>
                </a:solidFill>
              </a:rPr>
              <a:t>RDQA Web Tool: dnfxdz-raymond-wayesu.shinyapps.io/rdqa-web-tool/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2286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383280" y="502920"/>
            <a:ext cx="411480" cy="3291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383280" y="50292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31920" y="50292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Overview &amp; Understanding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923544"/>
            <a:ext cx="411480" cy="3291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92354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0" y="92354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Structure &amp; Roles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1344168"/>
            <a:ext cx="411480" cy="3291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344168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134416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RDQA Methodology &amp; Frameworks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83280" y="1764792"/>
            <a:ext cx="411480" cy="32918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764792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0" y="176479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Dual-System Verification Approach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83280" y="2185416"/>
            <a:ext cx="411480" cy="32918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218541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0" y="218541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RDQA Process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83280" y="2606040"/>
            <a:ext cx="411480" cy="32918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260604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260604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Plan &amp; Timeline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83280" y="3026664"/>
            <a:ext cx="411480" cy="32918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302666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31920" y="302666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Tools &amp; Instruments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383280" y="3447288"/>
            <a:ext cx="411480" cy="32918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3447288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31920" y="344728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Matrix &amp; Mitigation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383280" y="3867912"/>
            <a:ext cx="411480" cy="32918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3383280" y="3867912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31920" y="386791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KCCA &amp; Wakiso Engagement Strategy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383280" y="4288536"/>
            <a:ext cx="411480" cy="32918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3" name="Text 31"/>
          <p:cNvSpPr/>
          <p:nvPr/>
        </p:nvSpPr>
        <p:spPr>
          <a:xfrm>
            <a:off x="3383280" y="428853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931920" y="428853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ASSIGNMENT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19202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05156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1051560"/>
            <a:ext cx="192024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1188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14600" y="1783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51560"/>
            <a:ext cx="19202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188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63440" y="1783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Sessions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105156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12280" y="105156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1188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812280" y="1783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(Kampala &amp; Wakiso)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Challenge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Tiko’s digital data pipeline and Uganda’s paper-based HMIS reporting system operate in parallel. Discrepancies between these systems must be identified, root-caused, and resolved through collaborative corrective action. This RDQA will bridge Tiko’s innovative digital ecosystem with national reporting standards across Kampala and Wakiso Districts.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931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Areas: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25196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251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SRH / Family Planning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148840" y="425196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2148840" y="4251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 Testing &amp; ART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40480" y="425196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0" y="4251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SGBV Response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532120" y="425196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5532120" y="4251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223760" y="425196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7223760" y="4251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Generation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STRUCTURE &amp; ROLES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CONSULTANT / TEAM LEADER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8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Paul Mubiri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Biostatistics (Makerere)  •  13+ years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260604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RDQA experience: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PTBi, MGIC, iTECH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DHIS2, KoboToolbox, STATA, R, REDCap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Publications: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peer-reviewed papers (Lancet, BMC, PLOS)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skills: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assessment, protocol development, M&amp;E capacity building, PEPFAR/USAID systems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109728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754880" y="1097280"/>
            <a:ext cx="4023360" cy="5486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p/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/ BIOSTATISTICIAN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Raymond R. Wayesu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502920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Statistics (Linköping)  •  10+ years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029200" y="260604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experience: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UVRI, Sanyu Africa, NSSF, iTECH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R, Python, SQL, Linux, GCP certified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Specialisms: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Biostatistics, clinical trials, machine learning, data quality control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skills: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modelling, digital instrument development, dashboards, verification factor computation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D0F0E8"/>
          </a:solidFill>
          <a:ln/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000" i="1"/>
              <a:t>Core two-person team; additional field support to be mobilised if facility volume requires (Kampala/Wakiso-based, 3+ years HMIS experience)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RDQA METHODOLOGY &amp; FRAMEWORKS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97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69748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1325880" y="12801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138988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9659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 Evaluation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RDQA Tool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2514600"/>
            <a:ext cx="23317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Data Verification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Recount from source documents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Verification Factor (VF) computation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±10% tolerance band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Systems Assessment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functional areas scored 1–3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Spider chart visualisation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00400" y="1051560"/>
            <a:ext cx="2697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051560"/>
            <a:ext cx="269748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Shape 9"/>
          <p:cNvSpPr/>
          <p:nvPr/>
        </p:nvSpPr>
        <p:spPr>
          <a:xfrm>
            <a:off x="4206240" y="128016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138988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7560" y="19659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Data Quality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Toolkit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83280" y="2514600"/>
            <a:ext cx="23317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quality dimensions: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Completeness &amp; timeliness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Internal consistency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External consistency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Population data comparison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review + field verification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80760" y="1051560"/>
            <a:ext cx="2697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80760" y="1051560"/>
            <a:ext cx="269748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Shape 14"/>
          <p:cNvSpPr/>
          <p:nvPr/>
        </p:nvSpPr>
        <p:spPr>
          <a:xfrm>
            <a:off x="7086600" y="128016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1389888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19659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Uganda MoH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HMIS Guidelines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263640" y="2514600"/>
            <a:ext cx="23317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DQ attributes: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Accuracy &amp; validity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Completeness &amp; uniqueness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Consistency &amp; timeliness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with HMIS registers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(031, 055B, 071, 074, 080/081)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DUAL-SYSTEM VERIFICATION APPROACH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data triangulation across Tiko Platform, facility source documents, and national DHIS2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060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260604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630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Tiko Platform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digital records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WhatsApp / App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fraud detection &amp; GPS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463040"/>
            <a:ext cx="26060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463040"/>
            <a:ext cx="260604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4630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Facility HMIS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20574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HMIS 031, 055B, 071, 074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080/081, tally sheets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HMIS 105 monthly summary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1463040"/>
            <a:ext cx="26060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463040"/>
            <a:ext cx="2606040" cy="50292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4630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DHIS2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20574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District-level aggregates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Biostatistician entry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DQ App desk review</a:t>
            </a:r>
            <a:endParaRPr lang="en-US" sz="10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2103120"/>
            <a:ext cx="274320" cy="274320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103120"/>
            <a:ext cx="274320" cy="27432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1371600" y="3657600"/>
            <a:ext cx="6400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1371600" y="3657600"/>
            <a:ext cx="73152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7"/>
          <p:cNvSpPr/>
          <p:nvPr/>
        </p:nvSpPr>
        <p:spPr>
          <a:xfrm>
            <a:off x="1645920" y="3703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 Factor (VF)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64592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 = Recounted Value ÷ Reported Value × 100%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164592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range: 90% – 110% (±10% tolerance band)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669280" y="3794760"/>
            <a:ext cx="914400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1"/>
          <p:cNvSpPr/>
          <p:nvPr/>
        </p:nvSpPr>
        <p:spPr>
          <a:xfrm>
            <a:off x="5669280" y="3794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90%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5669280" y="4206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Over-reporting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6720840" y="3794760"/>
            <a:ext cx="914400" cy="868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4"/>
          <p:cNvSpPr/>
          <p:nvPr/>
        </p:nvSpPr>
        <p:spPr>
          <a:xfrm>
            <a:off x="6720840" y="3794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90–110%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6720840" y="4206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7772400" y="3794760"/>
            <a:ext cx="914400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7"/>
          <p:cNvSpPr/>
          <p:nvPr/>
        </p:nvSpPr>
        <p:spPr>
          <a:xfrm>
            <a:off x="7772400" y="3794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110%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7772400" y="4206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Under-reporting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RDQA PROCESS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889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8892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Pre-Visit Preparation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600200"/>
            <a:ext cx="27889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25146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facility list &amp; indicator priorities from Tiko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DHIS2 desk review using WHO DQ App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with KCCA &amp; Wakiso DHTs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 KoboToolbox instruments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previous month’s action points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7889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05840"/>
            <a:ext cx="2788920" cy="7772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00584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132588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On-Site RDQA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1600200"/>
            <a:ext cx="27889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4–18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37560" y="1920240"/>
            <a:ext cx="25146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2–3 person sub-teams per facility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Recount from primary HMIS registers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Tiko Platform &amp; HMIS 105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VFs; photograph register pages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interviews with facility staff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closure of previous action points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7889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05840"/>
            <a:ext cx="2788920" cy="777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00584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132588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&amp; Reporting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1600200"/>
            <a:ext cx="27889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19–25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63640" y="1920240"/>
            <a:ext cx="25146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validate KoboToolbox data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final VFs &amp; spider charts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individual facility reports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action point tracker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datasets &amp; reports to Tiko by 25th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PLAN &amp; TIMELINE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Activity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Apr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Jun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Jul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Aug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Sep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Oct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Nov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Inception &amp; Tool Dev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Monthly RDQA Cycles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Post-RDQA Follow-ups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Q1 Data Review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Q2 Data Review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Q3 Data Review + Final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Strategic Analysis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3749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Deliverables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0690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cleaned dataset (Excel/CSV)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facility reports with VF tables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point tracker (Closed / Pending / Overdue)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754880" y="3749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Quarterly Deliverables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846320" y="40690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Data Review Report (attendees, trends, commitments)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Insights Report (cross-division patterns, systemic gaps)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TOOLS &amp; INSTRUMENTS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3035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65760" y="1051560"/>
            <a:ext cx="530352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2801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KoboToolbox  —  Primary RDQA Platform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2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capability: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KoboCollect Android app works without internet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31720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2286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logic &amp; validation: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rules prevent entry errors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788920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2743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Auto-calculated VFs: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Verification Factor computation</a:t>
            </a:r>
            <a:endParaRPr lang="en-US" sz="10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246120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60120" y="3200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auto-capture: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facility geolocation logging</a:t>
            </a:r>
            <a:endParaRPr lang="en-US" sz="10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703320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60120" y="3657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documentation: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Forced-capture of register pages (no gallery)</a:t>
            </a:r>
            <a:endParaRPr lang="en-US" sz="10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160520"/>
            <a:ext cx="201168" cy="20116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60120" y="4114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metadata: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start/end times, enumerator tracking</a:t>
            </a:r>
            <a:endParaRPr lang="en-US" sz="1000" dirty="0"/>
          </a:p>
        </p:txBody>
      </p:sp>
      <p:sp>
        <p:nvSpPr>
          <p:cNvPr id="20" name="Shape 11"/>
          <p:cNvSpPr/>
          <p:nvPr/>
        </p:nvSpPr>
        <p:spPr>
          <a:xfrm>
            <a:off x="5943600" y="1051560"/>
            <a:ext cx="29260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2"/>
          <p:cNvSpPr/>
          <p:nvPr/>
        </p:nvSpPr>
        <p:spPr>
          <a:xfrm>
            <a:off x="5943600" y="1051560"/>
            <a:ext cx="2926080" cy="5486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22" name="Text 13"/>
          <p:cNvSpPr/>
          <p:nvPr/>
        </p:nvSpPr>
        <p:spPr>
          <a:xfrm>
            <a:off x="6035040" y="12344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RDQA Instrument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23" name="Shape 14"/>
          <p:cNvSpPr/>
          <p:nvPr/>
        </p:nvSpPr>
        <p:spPr>
          <a:xfrm>
            <a:off x="6126480" y="1874520"/>
            <a:ext cx="365760" cy="5029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24" name="Text 15"/>
          <p:cNvSpPr/>
          <p:nvPr/>
        </p:nvSpPr>
        <p:spPr>
          <a:xfrm>
            <a:off x="6126480" y="187452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16"/>
          <p:cNvSpPr/>
          <p:nvPr/>
        </p:nvSpPr>
        <p:spPr>
          <a:xfrm>
            <a:off x="6583680" y="18745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ID</a:t>
            </a:r>
            <a:endParaRPr lang="en-US" sz="1100" dirty="0"/>
          </a:p>
        </p:txBody>
      </p:sp>
      <p:sp>
        <p:nvSpPr>
          <p:cNvPr id="26" name="Text 17"/>
          <p:cNvSpPr/>
          <p:nvPr/>
        </p:nvSpPr>
        <p:spPr>
          <a:xfrm>
            <a:off x="6583680" y="21031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GPS, cascading selects, assessor info</a:t>
            </a:r>
            <a:endParaRPr lang="en-US" sz="900" dirty="0"/>
          </a:p>
        </p:txBody>
      </p:sp>
      <p:sp>
        <p:nvSpPr>
          <p:cNvPr id="27" name="Shape 18"/>
          <p:cNvSpPr/>
          <p:nvPr/>
        </p:nvSpPr>
        <p:spPr>
          <a:xfrm>
            <a:off x="6126480" y="2532888"/>
            <a:ext cx="365760" cy="5029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28" name="Text 19"/>
          <p:cNvSpPr/>
          <p:nvPr/>
        </p:nvSpPr>
        <p:spPr>
          <a:xfrm>
            <a:off x="6126480" y="2532888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20"/>
          <p:cNvSpPr/>
          <p:nvPr/>
        </p:nvSpPr>
        <p:spPr>
          <a:xfrm>
            <a:off x="6583680" y="25328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Verification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6583680" y="27614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group per indicator, auto VF calc</a:t>
            </a:r>
            <a:endParaRPr lang="en-US" sz="900" dirty="0"/>
          </a:p>
        </p:txBody>
      </p:sp>
      <p:sp>
        <p:nvSpPr>
          <p:cNvPr id="31" name="Shape 22"/>
          <p:cNvSpPr/>
          <p:nvPr/>
        </p:nvSpPr>
        <p:spPr>
          <a:xfrm>
            <a:off x="6126480" y="3191256"/>
            <a:ext cx="365760" cy="5029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32" name="Text 23"/>
          <p:cNvSpPr/>
          <p:nvPr/>
        </p:nvSpPr>
        <p:spPr>
          <a:xfrm>
            <a:off x="6126480" y="319125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24"/>
          <p:cNvSpPr/>
          <p:nvPr/>
        </p:nvSpPr>
        <p:spPr>
          <a:xfrm>
            <a:off x="6583680" y="319125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Assessment</a:t>
            </a:r>
            <a:endParaRPr lang="en-US" sz="1100" dirty="0"/>
          </a:p>
        </p:txBody>
      </p:sp>
      <p:sp>
        <p:nvSpPr>
          <p:cNvPr id="34" name="Text 25"/>
          <p:cNvSpPr/>
          <p:nvPr/>
        </p:nvSpPr>
        <p:spPr>
          <a:xfrm>
            <a:off x="6583680" y="341985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Likert scales, 5 functional areas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6126480" y="3849624"/>
            <a:ext cx="365760" cy="502920"/>
          </a:xfrm>
          <a:prstGeom prst="rect">
            <a:avLst/>
          </a:prstGeom>
          <a:solidFill>
            <a:srgbClr val="1B3A4B"/>
          </a:solidFill>
          <a:ln/>
        </p:spPr>
        <p:txBody>
          <a:bodyPr/>
          <a:p/>
        </p:txBody>
      </p:sp>
      <p:sp>
        <p:nvSpPr>
          <p:cNvPr id="36" name="Text 27"/>
          <p:cNvSpPr/>
          <p:nvPr/>
        </p:nvSpPr>
        <p:spPr>
          <a:xfrm>
            <a:off x="6126480" y="3849624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28"/>
          <p:cNvSpPr/>
          <p:nvPr/>
        </p:nvSpPr>
        <p:spPr>
          <a:xfrm>
            <a:off x="6583680" y="384962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6583680" y="407822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Issues, priority, responsible, timeline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6035040" y="4526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Free humanitarian tier (5,000 submissions/month, 1 GB storage)</a:t>
            </a:r>
            <a:endParaRPr lang="en-US" sz="850" dirty="0"/>
          </a:p>
          <a:p>
            <a:pPr>
              <a:spcBef>
                <a:spcPts val="800"/>
              </a:spcBef>
            </a:pPr>
          </a:p>
          <a:p>
            <a:pPr algn="l"/>
            <a:r>
              <a:rPr sz="1100" b="1">
                <a:solidFill>
                  <a:srgbClr val="1A365D"/>
                </a:solidFill>
              </a:rPr>
              <a:t>RDQA Demo Dashboard</a:t>
            </a:r>
          </a:p>
          <a:p>
            <a:pPr algn="l"/>
            <a:r>
              <a:rPr sz="900">
                <a:solidFill>
                  <a:srgbClr val="4A5568"/>
                </a:solidFill>
              </a:rPr>
              <a:t>Interactive demonstration of our analytical outputs — VF charts, spider diagrams, root cause analysis, and three-way data triangulation: </a:t>
            </a:r>
            <a:r>
              <a:rPr sz="900" b="1" u="sng">
                <a:solidFill>
                  <a:srgbClr val="2B6CB0"/>
                </a:solidFill>
              </a:rPr>
              <a:t>https://rdqa-demo.vercel.app/</a:t>
            </a:r>
          </a:p>
          <a:p/>
          <a:p>
            <a:r>
              <a:rPr lang="en-US" dirty="0" b="1" sz="139700">
                <a:solidFill>
                  <a:srgbClr val="1A365D"/>
                </a:solidFill>
              </a:rPr>
              <a:t>RDQA Web Tool (R/Shiny)</a:t>
            </a:r>
          </a:p>
          <a:p>
            <a:r>
              <a:rPr lang="en-US" dirty="0" sz="114300">
                <a:solidFill>
                  <a:srgbClr val="4A5568"/>
                </a:solidFill>
              </a:rPr>
              <a:t>Live interactive application for real-time VF computation, M&amp;E systems assessment, datimvalidation checks, and report generation — supports demo mode and live DHIS2 integration: </a:t>
            </a:r>
            <a:r>
              <a:rPr lang="en-US" dirty="0" b="1" sz="114300">
                <a:solidFill>
                  <a:srgbClr val="2B6CB0"/>
                </a:solidFill>
              </a:rPr>
              <a:t>https://dnfxdz-raymond-wayesu.shinyapps.io/rdqa-web-tool/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MATRIX &amp; MITIGATION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Likelihood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Mitigation Strategy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Facility staff reluctant to participate in RDQA process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Pre-visit coordination with facility in-charges via Tiko; frame RDQA as supportive (not punitive); provide verbal feedback on-site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Stock-out of HMIS registers at facilities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Use any available primary source documents; document gaps; triangulate with Tiko Platform and DHIS2 data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Poor internet connectivity during field visits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KoboCollect offline mode; all forms pre-loaded before deployment; sync upon return to coverage area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Delays in Tiko providing facility lists or data exports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Agree data-sharing SLA during inception; build 3-day buffer into monthly timeline; maintain rolling facility schedule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High field auditor turnover during 10-month engagement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Competitive daily rates; clear onboarding protocol; cross-train all auditors on all modules; maintain backup auditor pool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Discrepancies caused by genuine indicator definition misunderstandings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Include indicator definition reference sheets in RDQA instruments; harmonise definitions with Tiko during inception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KCCA &amp; WAKISO ENGAGEMENT STRATEGY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4114800" cy="5029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1556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051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KAMPALA (KCCA)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1645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KCCA-managed + private sector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1920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contact: KCCA Health Department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228600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meeting with KCCA Health Director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KCCA Health Information Officers to joint facility visits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summary findings (with Tiko consent)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RDQA schedule with KCCA supervision calendar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05156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1051560"/>
            <a:ext cx="4114800" cy="50292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1556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57800" y="1051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WAKISO DISTRICT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892040" y="1645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government + 477 private facilities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892040" y="1920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contact: District Health Officer &amp; Biostatistician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892040" y="228600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Courtesy call to Wakiso DHO at district headquarters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District Biostatistician to co-verify DHIS2 entries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with sub-county health teams for facility access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findings into District Health Management Team reviews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20040" y="4526280"/>
            <a:ext cx="8503920" cy="457200"/>
          </a:xfrm>
          <a:prstGeom prst="rect">
            <a:avLst/>
          </a:prstGeom>
          <a:solidFill>
            <a:srgbClr val="D0F0E8"/>
          </a:solidFill>
          <a:ln/>
        </p:spPr>
      </p:sp>
      <p:sp>
        <p:nvSpPr>
          <p:cNvPr id="19" name="Text 15"/>
          <p:cNvSpPr/>
          <p:nvPr/>
        </p:nvSpPr>
        <p:spPr>
          <a:xfrm>
            <a:off x="502920" y="45262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coordination calls with Tiko programme team to align facility schedules, share preliminary findings, and adjust audit plans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17320" y="12801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Finalise inception details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527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contract; confirm facility list with Tiko; finalise indicator selection; recruit field auditors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1874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17320" y="21031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development &amp; training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23500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 custom KoboToolbox RDQA instrument; 2-day field auditor training; pilot at 2–3 facilities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7432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2697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17320" y="2926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Stakeholder introductions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31729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Courtesy meetings with KCCA Health Department and Wakiso District Health Officer; present RDQA scope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56616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3152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17320" y="3520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17320" y="3749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RDQA cycle launch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39959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field teams for March RDQA; begin on-site data verification across priority facilities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9728" y="4434840"/>
            <a:ext cx="9034272" cy="708660"/>
          </a:xfrm>
          <a:prstGeom prst="rect">
            <a:avLst/>
          </a:prstGeom>
          <a:solidFill>
            <a:srgbClr val="1B3A4B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57200" y="4526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Mubiri: mubirip@gmail.com  |  +256 754 544 660     •     Raymond Wayesu: raymondrwayesu@gmail.com  |  +256 784 902 753</a:t>
            </a:r>
            <a:endParaRPr lang="en-US" sz="1000" dirty="0"/>
          </a:p>
          <a:p>
            <a:pPr algn="ctr"/>
            <a:r>
              <a:rPr sz="1000" b="1">
                <a:solidFill>
                  <a:srgbClr val="2B6CB0"/>
                </a:solidFill>
              </a:rPr>
              <a:t>Interactive RDQA Demo: https://rdqa-demo.vercel.app/</a:t>
            </a:r>
          </a:p>
          <a:p>
            <a:r>
              <a:rPr lang="en-US" dirty="0" b="1" sz="127000">
                <a:solidFill>
                  <a:srgbClr val="2B6CB0"/>
                </a:solidFill>
              </a:rPr>
              <a:t>RDQA Web Tool (R/Shiny): https://dnfxdz-raymond-wayesu.shinyapps.io/rdqa-web-tool/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Tiko RDQA Inception Report 2026</dc:title>
  <dc:subject>PptxGenJS Presentation</dc:subject>
  <dc:creator>Paul Mubiri &amp; Raymond R. Wayesu</dc:creator>
  <cp:lastModifiedBy>Paul Mubiri &amp; Raymond R. Wayesu</cp:lastModifiedBy>
  <cp:revision>1</cp:revision>
  <dcterms:created xsi:type="dcterms:W3CDTF">2026-02-11T06:20:27Z</dcterms:created>
  <dcterms:modified xsi:type="dcterms:W3CDTF">2026-02-11T06:20:27Z</dcterms:modified>
</cp:coreProperties>
</file>